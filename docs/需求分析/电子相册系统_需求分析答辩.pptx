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20 秒。仅为讲解安排，尚未实际试讲。</a:t>
            </a:r>
          </a:p>
          <a:p>
            <a:endParaRPr/>
          </a:p>
          <a:p>
            <a:r>
              <a:t>本次汇报介绍电子相册系统的需求分析，先说明系统目标和范围，再通过四个典型用例展示功能流程与对象协作，最后说明非功能目标、分工及后续安排。系统当前处于需求分析阶段。</a:t>
            </a:r>
          </a:p>
          <a:p>
            <a:endParaRPr/>
          </a:p>
          <a:p>
            <a:r>
              <a:t>依据：docs/需求分析/03_完整需求分析报告.md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35 秒。仅为讲解安排，尚未实际试讲。</a:t>
            </a:r>
          </a:p>
          <a:p>
            <a:endParaRPr/>
          </a:p>
          <a:p>
            <a:r>
              <a:t>系统解决照片多、不易分类及分享的问题。普通用户使用相册整理照片，公开相册可由其他登录用户查看，私有相册仅本人可见。管理员维护统一类别，复用用户登录。评论删除作为评论用例的扩展流程，不增加独立社交功能。</a:t>
            </a:r>
          </a:p>
          <a:p>
            <a:endParaRPr/>
          </a:p>
          <a:p>
            <a:r>
              <a:t>依据：docs/需求分析/03_完整需求分析报告.md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45 秒。仅为讲解安排，尚未实际试讲。</a:t>
            </a:r>
          </a:p>
          <a:p>
            <a:endParaRPr/>
          </a:p>
          <a:p>
            <a:r>
              <a:t>本机浏览器访问本机 FastAPI 服务，PostgreSQL 在本地 Docker 容器运行。页面交互、控制协调与模型职责对应 MVC 思路。图中这里放大应用服务部分，数据库与文件系统分别保存元数据和图片，后期独立存储只是演进方向。SQLAlchemy 和 JWT 仍是设计阶段候选。</a:t>
            </a:r>
          </a:p>
          <a:p>
            <a:endParaRPr/>
          </a:p>
          <a:p>
            <a:r>
              <a:t>依据：docs/图稿/图2-1_系统体系结构图.png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30 秒。仅为讲解安排，尚未实际试讲。</a:t>
            </a:r>
          </a:p>
          <a:p>
            <a:endParaRPr/>
          </a:p>
          <a:p>
            <a:r>
              <a:t>功能框架分为账户、相册、照片和评论四个模块，共八个用例。类别管理属于相册功能，由管理员维护。成员答辩按四组准备，其中类别管理与评论由同组承担；功能模块与交付分组的组织方式不同，不改变系统边界。</a:t>
            </a:r>
          </a:p>
          <a:p>
            <a:endParaRPr/>
          </a:p>
          <a:p>
            <a:r>
              <a:t>依据：docs/图稿/图2-2_功能框架图.png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45 秒。仅为讲解安排，尚未实际试讲。</a:t>
            </a:r>
          </a:p>
          <a:p>
            <a:endParaRPr/>
          </a:p>
          <a:p>
            <a:r>
              <a:t>账户管理解决两个问题：账户怎样建立，以及已有账户怎样进入系统。注册面向访客，系统先检查必填信息和两次密码，再检查用户名是否被占用，通过后创建普通账户并跳转登录页。这里重点看登录活动图：输入不完整时先返回补全，不进入账户验证；信息完整但账户不存在或密码错误时，统一提示错误并重新输入。只有验证成功，才读取账户角色，普通用户进入个人主页，管理员进入后台管理页。管理员使用预置账户并复用登录，因此无需增加独立的管理员登录用例，也不能通过普通注册获得管理员身份。</a:t>
            </a:r>
          </a:p>
          <a:p>
            <a:endParaRPr/>
          </a:p>
          <a:p>
            <a:r>
              <a:t>依据：docs/交付/1-账户管理-钟标/images/用户登录_活动图.png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35 秒。仅为讲解安排，尚未实际试讲。</a:t>
            </a:r>
          </a:p>
          <a:p>
            <a:endParaRPr/>
          </a:p>
          <a:p>
            <a:r>
              <a:t>把上一页登录流程落实到对象协作时，我们区分三个分析类。登录页面负责收集输入和显示提示，登录控制器安排完整性校验、账户验证和角色判断，用户实体保存账户资料并提供密码验证。看协作图，消息一、二把凭据送到控制器，三、四完成验证并返回结果，成功后才执行五、六进入对应页面。若输入不完整，就不会访问用户实体；若验证失败，则不执行成功跳转。类模型中用户端的零到一表示按用户名可能查不到账户，并非系统只能有一个用户。这样既能解释正常登录，也能说明失败在哪一步停止。</a:t>
            </a:r>
          </a:p>
          <a:p>
            <a:endParaRPr/>
          </a:p>
          <a:p>
            <a:r>
              <a:t>依据：docs/交付/1-账户管理-钟标/images/用户登录_协作图.png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45 秒。仅为讲解安排，尚未实际试讲。</a:t>
            </a:r>
          </a:p>
          <a:p>
            <a:endParaRPr/>
          </a:p>
          <a:p>
            <a:r>
              <a:t>创建相册是用户整理照片的第一步。登录后进入"我的相册"点创建，系统先加载类别列表再显示表单——类别由管理员维护，所以创建前必须先读取，否则用户无法选择。用户填写名称、选类别、设公开/私有后提交，系统校验名称非空且类别已选；校验通过就把相册保存并关联到当前用户，保证相册归属正确。若名称为空或未选类别，则提示错误并回到填写，不落库。私有相册仅本人可见，公开相册可被其他登录用户浏览。修改相册复用同样的校验，但多一步"相册存在"检查——相册不存在或已被删除时直接提示并返回列表，不进入编辑。</a:t>
            </a:r>
          </a:p>
          <a:p>
            <a:endParaRPr/>
          </a:p>
          <a:p>
            <a:r>
              <a:t>依据：docs/交付/2-相册管理-刘硕/images/创建相册_活动图.png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35 秒。仅为讲解安排，尚未实际试讲。</a:t>
            </a:r>
          </a:p>
          <a:p>
            <a:endParaRPr/>
          </a:p>
          <a:p>
            <a:r>
              <a:t>创建相册按 BCE 三层拆分：页面只负责展示表单、读取输入和提示，不碰数据；相册控制器承担查询类别、校验、创建并关联用户这些业务协调；相册和相册类别作为实体承载数据。之所以把类别单独建模，是因为类别是管理员统一维护的字典，多个相册共享，需要独立增删改。协作时先查类别（消息 3、4）再显示表单，用户提交后控制器校验，通过才向相册发起"创建并关联"（消息 7、8），最后返回成功。校验失败则跳过成功路径的 7—10，直接提示并保留输入。这样职责清晰、顺序明确，便于后续实现。</a:t>
            </a:r>
          </a:p>
          <a:p>
            <a:endParaRPr/>
          </a:p>
          <a:p>
            <a:r>
              <a:t>依据：docs/交付/2-相册管理-刘硕/images/创建相册_类模型图.png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45 秒。仅为讲解安排，尚未实际试讲。</a:t>
            </a:r>
          </a:p>
          <a:p>
            <a:endParaRPr/>
          </a:p>
          <a:p>
            <a:r>
              <a:t>上传发生在已有相册内。用户选择图片并提交后，系统先检查格式为 jpg、png 或 gif，大小不超过 10MB，通过才保存文件、生成缩略图，并记录上传者与时间；不通过则提示限制，返回文件选择，不新增照片记录。图片文件保存在本机 uploads/，数据库只记录路径与元数据。浏览时，列表显示公开相册和本人全部相册，进入相册后查看缩略图，再点击查看大图及评论。即使通过链接直达他人私有相册，也必须经过同一个访问权限判断；无权查看时返回列表，链接不能绕过权限。</a:t>
            </a:r>
          </a:p>
          <a:p>
            <a:endParaRPr/>
          </a:p>
          <a:p>
            <a:r>
              <a:t>依据：docs/交付/3-照片管理-王柯涵/images/上传图片_活动图.png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35 秒。仅为讲解安排，尚未实际试讲。</a:t>
            </a:r>
          </a:p>
          <a:p>
            <a:endParaRPr/>
          </a:p>
          <a:p>
            <a:r>
              <a:t>上传分为三个分析类：上传页面负责文件选择和提示；上传控制器协调格式与大小校验、文件保存、缩略图生成及上传信息记录；照片实体保存路径、所属相册、上传者与时间等元数据。照片端的零到多表示控制器可处理多次上传，每次成功新增一张照片。协作图中，消息一选择文件，二提交并校验，三保存，四返回保存结果，五、六逐层提示结果。若校验不通过，就不进入成功路径的三到六，改为提示限制并重新选择。这里描述的是需求分析中的处理顺序，具体实现与运行效果仍待开发验证。</a:t>
            </a:r>
          </a:p>
          <a:p>
            <a:endParaRPr/>
          </a:p>
          <a:p>
            <a:r>
              <a:t>依据：docs/交付/3-照片管理-王柯涵/images/上传图片_协作图.png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45 秒。仅为讲解安排，尚未实际试讲。</a:t>
            </a:r>
          </a:p>
          <a:p>
            <a:endParaRPr/>
          </a:p>
          <a:p>
            <a:r>
              <a:t>评论功能的核心是管住三件事：能不能评、内容是否合规、谁能删。用户登录后进入照片大图页，只有对其可见的照片才能评论，不可见的照片不提供评论。发表时先校验内容非空且不超过 200 字，不合格就提示并留在输入状态，不写入任何记录；通过后才关联评论用户和照片、记录时间，并按时间倒序显示。删除只对作者开放：先确认，再校验当前用户是否为评论作者，通过才删除并刷新，取消或校验失败都不改动数据。同模块的类别管理由管理员维护字典，名称要非空不重名，类别下还有相册时不能删除。</a:t>
            </a:r>
          </a:p>
          <a:p>
            <a:endParaRPr/>
          </a:p>
          <a:p>
            <a:r>
              <a:t>依据：docs/交付/4-类别与评论-陈诺/images/对照片评论_活动图.png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40 秒。仅为讲解安排，尚未实际试讲。</a:t>
            </a:r>
          </a:p>
          <a:p>
            <a:endParaRPr/>
          </a:p>
          <a:p>
            <a:r>
              <a:t>建模把交互、规则和数据分开：照片详情页面只负责输入、展示和确认；评论控制器集中内容校验、发表、作者校验和删除；评论实体记录用户编号和照片编号，把归属固化到数据上。关键关系是用户、照片对评论的 1 对 0..*：每条评论恰好属于一个用户和一张照片。协作图基本消息 1—8 完成发表、校验、保存和倒序展示；删除是带星号的 9—14，先确认，再校验作者，作者不符时 12—13 不执行、14 仍返回错误并刷新，防止越权删评。类别管理则结合备用类图说明职责，删除前统计相册占用。</a:t>
            </a:r>
          </a:p>
          <a:p>
            <a:r>
              <a:t>本页为图 2-30 的消息文字摘录，完整协作图在 B30。基本流程 1—8 负责发表、保存及倒序展示，带星号的消息才属于删除扩展。</a:t>
            </a:r>
          </a:p>
          <a:p>
            <a:endParaRPr/>
          </a:p>
          <a:p>
            <a:r>
              <a:t>依据：docs/交付/4-类别与评论-陈诺/images/对照片评论_协作图.png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35 秒。仅为讲解安排，尚未实际试讲。</a:t>
            </a:r>
          </a:p>
          <a:p>
            <a:endParaRPr/>
          </a:p>
          <a:p>
            <a:r>
              <a:t>管理员添加和修改类别时检查名称，修改时排除当前类别；删除走独立分支，先检查是否仍有关联相册。普通用户浏览公开相册和本人全部相册，无可见内容时给出空状态。链接直达和正常入口汇入相同权限判断，不能绕过他人私有相册的限制。</a:t>
            </a:r>
          </a:p>
          <a:p>
            <a:endParaRPr/>
          </a:p>
          <a:p>
            <a:r>
              <a:t>依据：docs/交付/4-类别与评论-陈诺/相册类别管理.md；docs/交付/3-照片管理-王柯涵/浏览照片.md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50 秒。仅为讲解安排，尚未实际试讲。</a:t>
            </a:r>
          </a:p>
          <a:p>
            <a:endParaRPr/>
          </a:p>
          <a:p>
            <a:r>
              <a:t>运行环境按本机四核、八 GB 内存作为建议测试基线，前端 Vue、后端 FastAPI、数据库 PostgreSQL 容器。并发基准拟用一百账户、二百相册、一千张照片元数据，二十会话持续五分钟；浏览占七成，其余创建修改、评论、上传各一成。操作间隔一秒，上传最多两路。常规接口 P95 不超过两秒，单张上传端到端不超过五秒，预期成功请求失败率不超过百分之一。P95 表示百分之九十五的样本不超过该值。权限检查、故障恢复、浏览器兼容和从说明复现环境都安排在实现后验证，不把建议指标当成测试结果。</a:t>
            </a:r>
          </a:p>
          <a:p>
            <a:endParaRPr/>
          </a:p>
          <a:p>
            <a:r>
              <a:t>依据：docs/需求分析/03_完整需求分析报告.md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35 秒。仅为讲解安排，尚未实际试讲。</a:t>
            </a:r>
          </a:p>
          <a:p>
            <a:endParaRPr/>
          </a:p>
          <a:p>
            <a:r>
              <a:t>分工按六人现状记录。相册历史图稿由刘硕代做，顾圣杰接回后续；全组统一返修也保留实际贡献。账户本轮答辩内容由组长接手，不记为钟标本轮交付。陈诺统一提交合作组材料，翟宇豪具体贡献仍待本人确认。比例须由组长依据工作证据核定，当前不代填数字。</a:t>
            </a:r>
          </a:p>
          <a:p>
            <a:endParaRPr/>
          </a:p>
          <a:p>
            <a:r>
              <a:t>依据：docs/需求分析/03_完整需求分析报告.md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25 秒。仅为讲解安排，尚未实际试讲。</a:t>
            </a:r>
          </a:p>
          <a:p>
            <a:endParaRPr/>
          </a:p>
          <a:p>
            <a:r>
              <a:t>本阶段将八个用例、活动流程和分析模型对应起来，明确正常路径及异常停止点。接下来进入面向对象设计，确定接口与数据库约束，再完成实现和测试。当前仍需本人确认贡献和个人信息，并由实际汇报人进行计时试讲。以下是备用图，主讲结束后仅在提问时使用。</a:t>
            </a:r>
          </a:p>
          <a:p>
            <a:endParaRPr/>
          </a:p>
          <a:p>
            <a:r>
              <a:t>依据：docs/需求分析/03_完整需求分析报告.md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图 2-1 表示开发期全系统在同一台本机运行。浏览器承担交互，FastAPI 进程组织业务，PostgreSQL 容器存储结构化数据，uploads/ 保存图片与缩略图。图中后期独立文件服务仅表示可演进方向，不是当前云部署。MVC 的职责分离与物理部署层次应分别理解。</a:t>
            </a:r>
          </a:p>
          <a:p>
            <a:r>
              <a:t>来源：docs/图稿/图2-1_系统体系结构图.png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图 2-2 按账户、相册、照片、评论四个功能模块组织八个用例。相册类别维护在功能框架中属于相册管理，答辩分工则与评论共用一个交付组；功能划分与成员分工的两种组织方式不改变功能范围。管理员复用登录，评论删除属于扩展流程。</a:t>
            </a:r>
          </a:p>
          <a:p>
            <a:r>
              <a:t>来源：docs/图稿/图2-2_功能框架图.png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普通用户参与注册与登录，管理员只参与登录。注册的发起者是尚未注册的访客，图中按题目使用普通用户表示其注册后身份；管理员账户预置，注册不能选择管理员角色。</a:t>
            </a:r>
          </a:p>
          <a:p>
            <a:r>
              <a:t>来源：docs/交付/1-账户管理-钟标/images/账户管理模块用例图.png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图中三项校验分别处理信息不全、密码不一致和用户名已存在，失败均返回输入；只有全部通过才创建普通账户并跳转登录页。错误回路交叉处使用跨越符号表示不相连。</a:t>
            </a:r>
          </a:p>
          <a:p>
            <a:r>
              <a:t>来源：docs/交付/1-账户管理-钟标/images/用户注册_活动图.png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输入完整性与账户验证失败均返回输入；验证成功后才按账户角色分别进入个人主页或后台管理页。角色分支的参与者包含普通用户和管理员，普通用户不能进入后台。</a:t>
            </a:r>
          </a:p>
          <a:p>
            <a:r>
              <a:t>来源：docs/交付/1-账户管理-钟标/images/用户登录_活动图.png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普通用户参与创建相册和修改相册。创建时关联当前用户，修改仅由相册所有者执行；类别字典由管理员通过另一个用例维护。</a:t>
            </a:r>
          </a:p>
          <a:p>
            <a:r>
              <a:t>来源：docs/交付/2-相册管理-刘硕/images/相册管理模块用例图.png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主流程依次显示表单及类别列表、接收提交、校验、创建并关联当前用户、返回相册列表。判断“名称为空或未选类别？”为是时提示错误并返回填写步骤，为否时创建相册；分支与扩展流程 4a 一致。</a:t>
            </a:r>
          </a:p>
          <a:p>
            <a:r>
              <a:t>来源：docs/交付/2-相册管理-刘硕/images/创建相册_活动图.png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先选择相册并检查是否存在，不存在时提示并返回相册列表后结束本次修改；存在时展示原信息，接收修改。判断“名称为空？”为是时提示并返回修改输入，为否时更新并返回列表，覆盖扩展流程 1a、4a。</a:t>
            </a:r>
          </a:p>
          <a:p>
            <a:r>
              <a:t>来源：docs/交付/2-相册管理-刘硕/images/修改相册_活动图.png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普通用户参与上传图片与浏览照片。上传发生在已有的本人相册内，浏览范围由公开属性和所有者身份决定；用例图表示参与关系，具体权限和失败处理在活动图中展开。</a:t>
            </a:r>
          </a:p>
          <a:p>
            <a:r>
              <a:t>来源：docs/交付/3-照片管理-王柯涵/images/照片管理模块用例图.png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进入相册并打开文件选择窗口，用户选择图片提交，系统检查 jpg/png/gif 格式及不超过 10MB 的大小限制。校验通过后保存文件、生成缩略图并记录上传者和时间；不通过时提示限制并返回选择文件，覆盖扩展流程 4a。</a:t>
            </a:r>
          </a:p>
          <a:p>
            <a:r>
              <a:t>来源：docs/交付/3-照片管理-王柯涵/images/上传图片_活动图.png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正常入口先加载公开相册与本人全部相册，无可见相册时提示“暂无相册”并结束；存在时选择相册。链接直达入口绕过列表选择，但与正常入口汇入同一个“相册可查看？”判断。访问他人私有相册时提示无权查看并返回加载列表；允许访问才显示缩略图，点击后展示大图、时间、上传者和评论列表。</a:t>
            </a:r>
          </a:p>
          <a:p>
            <a:r>
              <a:t>来源：docs/交付/3-照片管理-王柯涵/images/浏览照片_活动图.png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管理员参与相册类别管理，普通用户参与对照片评论。评论删除并非新增用例，而是评论的扩展流程；两种角色仍复用既有登录用例。</a:t>
            </a:r>
          </a:p>
          <a:p>
            <a:r>
              <a:t>来源：docs/交付/4-类别与评论-陈诺/images/类别与评论模块用例图.png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显示类别列表后提交添加、修改或删除操作。添加与修改共用名称校验分支，修改查重排除当前类别；名称为空或重名时提示并返回操作输入。删除分支绕过名称校验，先检查类别是否仍有相册：有则提示并返回列表，无则删除。保存或删除成功后统一提示并刷新列表，覆盖扩展流程 3a、4a。</a:t>
            </a:r>
          </a:p>
          <a:p>
            <a:r>
              <a:t>来源：docs/交付/4-类别与评论-陈诺/images/相册类别管理_活动图.png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输入评论后判断内容非空且不超过 200 字，不通过时提示并返回输入；通过时保存评论及关联信息，按时间倒序显示。用户选择删除自己的评论后显示确认，确认才移除并刷新；取消时保留评论并返回列表，不删除时结束本次活动。</a:t>
            </a:r>
          </a:p>
          <a:p>
            <a:r>
              <a:t>来源：docs/交付/4-类别与评论-陈诺/images/对照片评论_活动图.png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用户注册按页面、控制器、用户实体分工。页面接收输入并展示结果，控制器安排输入校验与查重、创建账户，用户实体表达账户数据和相应行为。页面与控制器为 1:1；用户端 0..1 表示本次按用户名可能查不到账户，不限制系统账户总数。</a:t>
            </a:r>
          </a:p>
          <a:p>
            <a:r>
              <a:t>来源：docs/交付/1-账户管理-钟标/images/用户注册_类模型图.png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消息 1—2 输入并提交，3—4 查重，5—6 创建并返回结果，7—8 提示成功并显示登录页。输入不完整或两次密码不一致时不访问用户实体；用户名已存在时不执行成功消息 5—8。失败时改为提示错误并返回输入。</a:t>
            </a:r>
          </a:p>
          <a:p>
            <a:r>
              <a:t>来源：docs/交付/1-账户管理-钟标/images/用户注册_协作图.png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用户登录按页面、控制器、用户实体分工。页面接收输入并展示结果，控制器安排输入校验与账户验证、角色判断，用户实体表达账户数据和相应行为。页面与控制器为 1:1；用户端 0..1 表示本次按用户名可能查不到账户，不限制系统账户总数。</a:t>
            </a:r>
          </a:p>
          <a:p>
            <a:r>
              <a:t>来源：docs/交付/1-账户管理-钟标/images/用户登录_类模型图.png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消息 1—2 输入并提交凭据，3—4 验证账户并返回结果及角色，成功时执行 5—6 跳转并显示对应角色页面。输入不完整时 3—6 不发生；验证失败时成功消息 5—6 不发生。参与者“登录者”包括普通用户与管理员，与“用户”实体相区分。</a:t>
            </a:r>
          </a:p>
          <a:p>
            <a:r>
              <a:t>来源：docs/交付/1-账户管理-钟标/images/用户登录_协作图.png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创建相册页面负责表单与结果展示，相册控制器协调类别查询、校验和创建。相册与相册类别均采用统一字段：一个类别可关联零到多个相册，每个相册属于一个类别。页面与控制器为 1:1，控制器查询零到多个类别并在创建成功时保存一个相册。</a:t>
            </a:r>
          </a:p>
          <a:p>
            <a:r>
              <a:t>来源：docs/交付/2-相册管理-刘硕/images/创建相册_类模型图.png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基本消息按 1–10 编号：1 打开创建页；2 请求创建表单；3–4 查询并返回类别；5 显示表单与类别；6 用户填写后提交并由控制器校验；7–8 创建相册、关联当前用户并返回保存结果；9–10 返回成功、提示并回到列表。类别在显示表单前读取。校验失败时不执行成功路径的 7–10，由页面提示并保留输入。</a:t>
            </a:r>
          </a:p>
          <a:p>
            <a:r>
              <a:t>来源：docs/交付/2-相册管理-刘硕/images/创建相册_协作图.png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修改相册页面承担输入和展示，相册控制器查询、校验并更新相册，读取类别字典供类别选择。相册和相册类别的字段与创建用例一致。查询目标相册的多重性为 0..1，表示可能查不到；一个相册属于一个类别，一个类别可对应零到多个相册。</a:t>
            </a:r>
          </a:p>
          <a:p>
            <a:r>
              <a:t>来源：docs/交付/2-相册管理-刘硕/images/修改相册_类模型图.png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消息 1–10 依次为：选择修改、请求现有信息、查询相册、返回相册、显示现有信息、提交修改并校验、更新相册、返回更新结果、返回成功、提示并回到列表。相册不存在时在查询阶段返回错误并回到列表；名称为空时不执行更新，由页面提示并返回输入。类别字典读取已在类模型图中表示。</a:t>
            </a:r>
          </a:p>
          <a:p>
            <a:r>
              <a:t>来源：docs/交付/2-相册管理-刘硕/images/修改相册_协作图.png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上传页面负责选择文件和提示，上传控制器校验文件、协调文件保存与缩略图生成并记录信息，照片实体保存路径与元数据。照片字段与浏览、评论用例统一，包括照片编号、文件路径、缩略图路径、所属相册、上传者、上传时间。控制器可处理多次上传，因此照片端为 0..*；单次上传新增一张照片。</a:t>
            </a:r>
          </a:p>
          <a:p>
            <a:r>
              <a:t>来源：docs/交付/3-照片管理-王柯涵/images/上传图片_类模型图.png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消息 1–6 表示进入相册并选择文件、提交并校验、保存文件与缩略图及上传信息、返回保存结果、返回上传结果、提示结果。文件选择窗口包含在页面与用户的交互中。校验不通过时跳过保存，由页面提示限制并返回文件选择。 校验失败时不执行成功路径的消息 3—6，错误提示另行返回，不据图宣称已经完成运行测试。</a:t>
            </a:r>
          </a:p>
          <a:p>
            <a:r>
              <a:t>来源：docs/交付/3-照片管理-王柯涵/images/上传图片_协作图.png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浏览页面展示列表、网格及详情，浏览控制器查询并校验访问权限。相册、照片使用跨用例统一字段。控制器可查询零到多个可见相册，读取单张照片详情的多重性为 0..1；一个相册可包含零到多张照片，包含关系的两端为 1 和 0..*。</a:t>
            </a:r>
          </a:p>
          <a:p>
            <a:r>
              <a:t>来源：docs/交付/3-照片管理-王柯涵/images/浏览照片_类模型图.png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消息 1–14 分三段：1–5 进入并查询、显示可见相册列表；6–9 点击相册、校验权限并读取照片、显示缩略图；10–14 点击缩略图、读取照片详情及评论并显示大图。可见相册列表为空时提示并停止后续消息；私有相册访问被拒绝时不读取照片，返回列表。链接直达从相册访问请求进入，同样执行权限校验。</a:t>
            </a:r>
          </a:p>
          <a:p>
            <a:r>
              <a:t>来源：docs/交付/3-照片管理-王柯涵/images/浏览照片_协作图.png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类别管理页面为边界类，类别管理控制器负责名称校验、占用检查与增删改，相册类别及相册为实体类。实体字段与相册管理、浏览用例保持一致。一个类别可对应零到多个相册，控制器通过统计类别下的相册数决定能否删除，避免移除仍被引用的类别。</a:t>
            </a:r>
          </a:p>
          <a:p>
            <a:r>
              <a:t>来源：docs/交付/4-类别与评论-陈诺/images/相册类别管理_类模型图.png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消息 1–5 先加载并显示现有类别；6 提交操作，添加或修改时校验名称；7–8 仅在删除时查询相册占用并返回数量；9–10 执行类别更新并返回结果；11–12 返回操作结果、提示并刷新列表。名称不合法或占用数量大于零时不执行 9，页面提示错误并返回相应步骤。</a:t>
            </a:r>
          </a:p>
          <a:p>
            <a:r>
              <a:t>来源：docs/交付/4-类别与评论-陈诺/images/相册类别管理_协作图.png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照片详情页面负责输入、展示和删除确认；评论控制器负责内容校验、发布、作者校验和删除。评论记录用户编号和照片编号，每条评论属于一个用户和一张照片，用户与照片都可关联零到多条评论。用户、照片字段与其他用例一致，照片实体提供读取评论列表的方法。</a:t>
            </a:r>
          </a:p>
          <a:p>
            <a:r>
              <a:t>来源：docs/交付/4-类别与评论-陈诺/images/对照片评论_类模型图.png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备用图，不计入十分钟主讲。可在 PowerPoint 中放大查看。</a:t>
            </a:r>
          </a:p>
          <a:p>
            <a:r>
              <a:t>基本消息 1–8：输入并发表、提交校验、保存并关联用户和照片、返回保存结果、读取照片评论、返回倒序列表、返回页面、显示列表。带 * 的 9–14 为删除扩展：页面显示确认，用户确认后才提交删除；10–11 校验当前用户是否为作者；12–13 通过后删除并返回结果；14 返回结果并刷新。取消确认不提交删除请求，作者校验失败不执行删除；输入校验失败不保存评论。</a:t>
            </a:r>
          </a:p>
          <a:p>
            <a:r>
              <a:t>来源：docs/交付/4-类别与评论-陈诺/images/对照片评论_协作图.png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F432A2-40D5-40F1-97FB-1DFE75E76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4927621-B4BC-4DAB-A439-EDC9A9667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012183D-21D9-44A3-BFC7-D1862963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C734651-113B-4B9A-875E-FBD609FC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DAA50B6-8A7B-484C-B6F6-8D6C8E209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C7C70AC-211B-4186-AD83-CD3F949E5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4F9EE28-FBCF-48BB-BF39-7F1E98208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0B978EC-34D6-487B-8A69-D239DB33D7D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AD51BA9-84B3-466E-BC29-F687EA80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DB1246F-BB5A-4CB4-A475-F281CAFEA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1CB8D31-45B7-42B5-A0C9-7F508570A929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电子相册系统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56B782-00EE-46A1-B5DF-36450072E206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73EAF2-D506-4234-ACB8-42F8591D1344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01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CCEB19-864E-4CC1-8CBB-C4925C46DA95}"/>
              </a:ext>
            </a:extLst>
          </p:cNvPr>
          <p:cNvSpPr>
            <a:spLocks noGrp="1"/>
          </p:cNvSpPr>
          <p:nvPr/>
        </p:nvSpPr>
        <p:spPr>
          <a:xfrm>
            <a:off x="571500" y="1981200"/>
            <a:ext cx="10668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面向对象需求分析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812FA4-DE2C-428E-849F-59DE978EC5A9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《软件工程》课程设计答辩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B3CEF9-D985-49AA-B5C7-91DD5D1A3DC5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刘硕  钟标  顾圣杰  王柯涵  陈诺  翟宇豪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0E5634-CD58-4F64-AE8B-603B14D276E8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477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2026 年 10 月 28 日</a:t>
            </a:r>
          </a:p>
        </p:txBody>
      </p:sp>
    </p:spTree>
    <p:extLst>
      <p:ext uri="{BB962C8B-B14F-4D97-AF65-F5344CB8AC3E}">
        <p14:creationId xmlns:p14="http://schemas.microsoft.com/office/powerpoint/2010/main" val="823087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9AF66BC-9D29-4106-8B85-294CE6DCADC9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系统面向照片分类与公开分享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8BBFFE-1D9F-42FF-B635-3ADEF36B38C3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250AC9-09E9-4D4F-8824-3027A8486F5E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02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42C750-7ED4-4531-8E43-0DD925BB75F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普通用户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070A27-003D-488B-A946-617C2223783A}"/>
              </a:ext>
            </a:extLst>
          </p:cNvPr>
          <p:cNvSpPr>
            <a:spLocks noGrp="1"/>
          </p:cNvSpPr>
          <p:nvPr/>
        </p:nvSpPr>
        <p:spPr>
          <a:xfrm>
            <a:off x="571500" y="2324100"/>
            <a:ext cx="57150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注册、登录并创建自己的相册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51A591-5AA1-4662-97D2-817CE0E2CF01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57150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上传和浏览照片，发表评论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EB07A8-7B84-410B-8CD0-C5302A61806A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57150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公开面向登录用户，私有仅本人可见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90E799-1093-46DA-930E-3D224CDF7AAC}"/>
              </a:ext>
            </a:extLst>
          </p:cNvPr>
          <p:cNvSpPr>
            <a:spLocks noGrp="1"/>
          </p:cNvSpPr>
          <p:nvPr/>
        </p:nvSpPr>
        <p:spPr>
          <a:xfrm>
            <a:off x="7334250" y="1619250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D46251-7A72-48DD-8BCC-C320D993AB28}"/>
              </a:ext>
            </a:extLst>
          </p:cNvPr>
          <p:cNvSpPr>
            <a:spLocks noGrp="1"/>
          </p:cNvSpPr>
          <p:nvPr/>
        </p:nvSpPr>
        <p:spPr>
          <a:xfrm>
            <a:off x="7334250" y="2324100"/>
            <a:ext cx="41910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复用用户登录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5EBD36-C8A4-47E6-AA65-50AF33D6B14D}"/>
              </a:ext>
            </a:extLst>
          </p:cNvPr>
          <p:cNvSpPr>
            <a:spLocks noGrp="1"/>
          </p:cNvSpPr>
          <p:nvPr/>
        </p:nvSpPr>
        <p:spPr>
          <a:xfrm>
            <a:off x="7334250" y="3305175"/>
            <a:ext cx="41910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维护相册类别字典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5BE902-C36D-4EF6-831D-47D1417FB5DF}"/>
              </a:ext>
            </a:extLst>
          </p:cNvPr>
          <p:cNvSpPr>
            <a:spLocks noGrp="1"/>
          </p:cNvSpPr>
          <p:nvPr/>
        </p:nvSpPr>
        <p:spPr>
          <a:xfrm>
            <a:off x="7334250" y="4286250"/>
            <a:ext cx="41910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不开放管理员注册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8D73FC-2601-47D4-AE64-7B55CA42C9D5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范围固定为题目八个用例，无好友、点赞、视频功能</a:t>
            </a:r>
          </a:p>
        </p:txBody>
      </p:sp>
    </p:spTree>
    <p:extLst>
      <p:ext uri="{BB962C8B-B14F-4D97-AF65-F5344CB8AC3E}">
        <p14:creationId xmlns:p14="http://schemas.microsoft.com/office/powerpoint/2010/main" val="115353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5769E0D-FFD6-4587-A5B2-370F1CF7E86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开发期在本机组织浏览器与后端服务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68BC36-D432-4194-A6B0-7C5B31B0D86B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0B9AAC-D40F-4940-B5C7-A037D8E4FF40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03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74680F-3BCD-488E-8A99-285C78BA2F9A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4095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Vue 3 与 TypeScript 负责页面交互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F6A093-A4D3-4977-A254-F15019EB9F01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4095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FastAPI 进程组织规则与数据访问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C1D426-8427-4E31-A5D6-B2BB2DEE9923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4095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PostgreSQL 保存路径和元数据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CFC78F-96C9-4658-B50E-B5A8B429541D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4095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uploads/ 保存原图与缩略图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FB27A2-77A0-47E7-8709-21F2C9E4C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00" b="36500"/>
          <a:stretch/>
        </p:blipFill>
        <p:spPr>
          <a:xfrm>
            <a:off x="5048250" y="1476375"/>
            <a:ext cx="6572250" cy="42672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07CFC77-17E8-4E8F-89CB-06D4632D5E2E}"/>
              </a:ext>
            </a:extLst>
          </p:cNvPr>
          <p:cNvSpPr>
            <a:spLocks noGrp="1"/>
          </p:cNvSpPr>
          <p:nvPr/>
        </p:nvSpPr>
        <p:spPr>
          <a:xfrm>
            <a:off x="5048250" y="5924550"/>
            <a:ext cx="6572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图 2-1 应用服务节选，完整图见备用页 B01</a:t>
            </a:r>
          </a:p>
        </p:txBody>
      </p:sp>
    </p:spTree>
    <p:extLst>
      <p:ext uri="{BB962C8B-B14F-4D97-AF65-F5344CB8AC3E}">
        <p14:creationId xmlns:p14="http://schemas.microsoft.com/office/powerpoint/2010/main" val="180675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E1C605-5CF0-45FE-AE37-5AC49EA72EA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四个功能模块覆盖八个用例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F5AAC8-775C-403C-A6A2-444AB55D1130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25DC39-9A07-4A1A-AA3D-48DFA9D690C3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04 / 16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361DBC5-1444-4349-BCCC-51F9C7D5EB64}"/>
              </a:ext>
            </a:extLst>
          </p:cNvPr>
          <p:cNvGraphicFramePr/>
          <p:nvPr/>
        </p:nvGraphicFramePr>
        <p:xfrm>
          <a:off x="571500" y="1571625"/>
          <a:ext cx="11049000" cy="36671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功能模块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主要规则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账户管理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用户注册、用户登录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管理员复用登录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相册管理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创建、修改、类别管理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所有者修改，管理员维护类别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照片管理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上传图片、浏览照片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格式与大小，可见性校验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评论管理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对照片评论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内容校验，删除限作者本人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9998131-3A50-4442-97FE-3B6D5732FC5C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答辩分组将“类别与评论”合并讲解，功能范围保持一致</a:t>
            </a:r>
          </a:p>
        </p:txBody>
      </p:sp>
    </p:spTree>
    <p:extLst>
      <p:ext uri="{BB962C8B-B14F-4D97-AF65-F5344CB8AC3E}">
        <p14:creationId xmlns:p14="http://schemas.microsoft.com/office/powerpoint/2010/main" val="400093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FE87DC7-20BE-4E31-A0A0-2A86DE3D938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登录验证通过后才按角色进入页面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A3C696-FC51-47AE-80E5-8725D255EFE2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E1CA8A-5BBF-4AE6-B9D6-585AD36A6F65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05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1C33B1-4530-495F-9CD7-5FC2DBCAF136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4429125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注册校验必填项、密码一致与重名</a:t>
            </a:r>
            <a:endParaRPr sz="2025" b="0">
              <a:solidFill>
                <a:srgbClr val="1F2A3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103496-896A-4B3B-B084-69ED7189A0C9}"/>
              </a:ext>
            </a:extLst>
          </p:cNvPr>
          <p:cNvSpPr>
            <a:spLocks noGrp="1"/>
          </p:cNvSpPr>
          <p:nvPr/>
        </p:nvSpPr>
        <p:spPr>
          <a:xfrm>
            <a:off x="571500" y="3038475"/>
            <a:ext cx="4429125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输入为空时返回补全，验证失败时重新输入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E948B9-C001-4F86-8EF7-255139BB9D62}"/>
              </a:ext>
            </a:extLst>
          </p:cNvPr>
          <p:cNvSpPr>
            <a:spLocks noGrp="1"/>
          </p:cNvSpPr>
          <p:nvPr/>
        </p:nvSpPr>
        <p:spPr>
          <a:xfrm>
            <a:off x="571500" y="4324350"/>
            <a:ext cx="4429125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普通用户进个人主页，管理员进后台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5DF5C78-6C13-4D1C-BE6C-D44DD231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000" r="44000"/>
          <a:stretch/>
        </p:blipFill>
        <p:spPr>
          <a:xfrm>
            <a:off x="5286375" y="1619250"/>
            <a:ext cx="6286500" cy="40957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1EA392C-E44D-4782-A6A1-A0B677CFAF94}"/>
              </a:ext>
            </a:extLst>
          </p:cNvPr>
          <p:cNvSpPr>
            <a:spLocks noGrp="1"/>
          </p:cNvSpPr>
          <p:nvPr/>
        </p:nvSpPr>
        <p:spPr>
          <a:xfrm>
            <a:off x="5286375" y="5943600"/>
            <a:ext cx="6286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图 2-5 角色分流节选，完整活动图见 B05</a:t>
            </a:r>
          </a:p>
        </p:txBody>
      </p:sp>
    </p:spTree>
    <p:extLst>
      <p:ext uri="{BB962C8B-B14F-4D97-AF65-F5344CB8AC3E}">
        <p14:creationId xmlns:p14="http://schemas.microsoft.com/office/powerpoint/2010/main" val="155960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2AA9EC9-FD16-4206-905D-3C5AA8780B7D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登录协作把校验与页面展示分开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635FE2-11F7-4D63-95E0-07875B8987E6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76075F-802E-4274-A3F2-3DBEA30F5CCA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06 / 16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CDA2D9-9E1B-4061-A04F-14B47D8E6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7110" y="1619250"/>
            <a:ext cx="10757780" cy="4000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31DA0A8-A53C-4643-BF5C-E4DFA61850CF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rPr>
              <a:t>输入为空：3—6 不发生。验证失败：成功消息 5、6 不发生</a:t>
            </a:r>
          </a:p>
        </p:txBody>
      </p:sp>
    </p:spTree>
    <p:extLst>
      <p:ext uri="{BB962C8B-B14F-4D97-AF65-F5344CB8AC3E}">
        <p14:creationId xmlns:p14="http://schemas.microsoft.com/office/powerpoint/2010/main" val="161373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EA32F98-C4E4-4D7B-9CC7-5B8A7973008F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创建相册前先加载类别字典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B03C8C-78E3-4C9E-881D-1C6710DC5CE5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BA1605-21FE-4666-B191-D84A99081BAF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07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36E7D0-279D-4683-A5EB-D2F69F2E1F88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428625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先显示表单与管理员维护的类别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7F357-9FC2-4B20-B687-E2BF3CBF6374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428625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填写名称、类别和公开或私有属性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DD6CB9-CE04-4EF5-A309-C8D014E73C16}"/>
              </a:ext>
            </a:extLst>
          </p:cNvPr>
          <p:cNvSpPr>
            <a:spLocks noGrp="1"/>
          </p:cNvSpPr>
          <p:nvPr/>
        </p:nvSpPr>
        <p:spPr>
          <a:xfrm>
            <a:off x="571500" y="3600450"/>
            <a:ext cx="428625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通过校验才创建，并关联当前用户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727015-C0E8-4D00-AD99-0A6AFA4A3B74}"/>
              </a:ext>
            </a:extLst>
          </p:cNvPr>
          <p:cNvSpPr>
            <a:spLocks noGrp="1"/>
          </p:cNvSpPr>
          <p:nvPr/>
        </p:nvSpPr>
        <p:spPr>
          <a:xfrm>
            <a:off x="571500" y="4581525"/>
            <a:ext cx="428625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修改相册仅限所有者，相册须存在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47D759-F43E-4B2E-BEC6-956366F06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00" b="34000"/>
          <a:stretch/>
        </p:blipFill>
        <p:spPr>
          <a:xfrm>
            <a:off x="5048250" y="1524000"/>
            <a:ext cx="6572250" cy="42862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E6D95AA-C22C-4A61-B497-DB468C82F02A}"/>
              </a:ext>
            </a:extLst>
          </p:cNvPr>
          <p:cNvSpPr>
            <a:spLocks noGrp="1"/>
          </p:cNvSpPr>
          <p:nvPr/>
        </p:nvSpPr>
        <p:spPr>
          <a:xfrm>
            <a:off x="5048250" y="5962650"/>
            <a:ext cx="657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图 2-7 校验节选，失败后返回填写</a:t>
            </a:r>
          </a:p>
        </p:txBody>
      </p:sp>
    </p:spTree>
    <p:extLst>
      <p:ext uri="{BB962C8B-B14F-4D97-AF65-F5344CB8AC3E}">
        <p14:creationId xmlns:p14="http://schemas.microsoft.com/office/powerpoint/2010/main" val="1684359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E25F500-852E-4676-B69A-92F7FFA431E9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相册与类别通过关联共享字典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EF7FF1-E522-4276-B55D-2A079CFD3BBF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8B1653-3FC2-42D3-B68C-69086F793333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08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45B218-FE5B-4BE8-A0F4-8D064CB8468D}"/>
              </a:ext>
            </a:extLst>
          </p:cNvPr>
          <p:cNvSpPr>
            <a:spLocks noGrp="1"/>
          </p:cNvSpPr>
          <p:nvPr/>
        </p:nvSpPr>
        <p:spPr>
          <a:xfrm>
            <a:off x="571500" y="1724025"/>
            <a:ext cx="4333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一个相册属于一个类别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09A6C9-2B71-446D-8069-C40781AAE919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433387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一个类别可以对应零到多个相册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482883-2032-4B6F-BE25-F814DF93071E}"/>
              </a:ext>
            </a:extLst>
          </p:cNvPr>
          <p:cNvSpPr>
            <a:spLocks noGrp="1"/>
          </p:cNvSpPr>
          <p:nvPr/>
        </p:nvSpPr>
        <p:spPr>
          <a:xfrm>
            <a:off x="571500" y="4324350"/>
            <a:ext cx="433387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类别独立维护，因此单独建模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7CBCDD-BD58-4259-B0A0-E8A18CFE04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000"/>
          <a:stretch/>
        </p:blipFill>
        <p:spPr>
          <a:xfrm>
            <a:off x="5238750" y="1695450"/>
            <a:ext cx="6381750" cy="40005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A0C9ED3-B707-46D4-8ED1-17130E30E254}"/>
              </a:ext>
            </a:extLst>
          </p:cNvPr>
          <p:cNvSpPr>
            <a:spLocks noGrp="1"/>
          </p:cNvSpPr>
          <p:nvPr/>
        </p:nvSpPr>
        <p:spPr>
          <a:xfrm>
            <a:off x="5238750" y="5943600"/>
            <a:ext cx="6381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图 2-19 实体关联节选，完整图见 B19</a:t>
            </a:r>
          </a:p>
        </p:txBody>
      </p:sp>
    </p:spTree>
    <p:extLst>
      <p:ext uri="{BB962C8B-B14F-4D97-AF65-F5344CB8AC3E}">
        <p14:creationId xmlns:p14="http://schemas.microsoft.com/office/powerpoint/2010/main" val="17974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812FB51-AE18-4A70-9B56-499E3A2933E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上传先校验格式和大小，再保存照片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7FFB7F-61A9-445E-9391-E35E84B04896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53AA20-38E4-4647-9FD4-C374006F4161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09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E58E07-5DE5-4C3B-825E-F0917DF68EB6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4381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jpg / png / gif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F371B4-E846-442C-8840-9B921985A901}"/>
              </a:ext>
            </a:extLst>
          </p:cNvPr>
          <p:cNvSpPr>
            <a:spLocks noGrp="1"/>
          </p:cNvSpPr>
          <p:nvPr/>
        </p:nvSpPr>
        <p:spPr>
          <a:xfrm>
            <a:off x="571500" y="2657475"/>
            <a:ext cx="43815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每张不超过 10MB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ECB97D-FC64-4937-B209-1A3D56DC1E58}"/>
              </a:ext>
            </a:extLst>
          </p:cNvPr>
          <p:cNvSpPr>
            <a:spLocks noGrp="1"/>
          </p:cNvSpPr>
          <p:nvPr/>
        </p:nvSpPr>
        <p:spPr>
          <a:xfrm>
            <a:off x="571500" y="3829050"/>
            <a:ext cx="438150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保存文件与缩略图</a:t>
            </a:r>
          </a:p>
          <a:p>
            <a:pPr>
              <a:lnSpc>
                <a:spcPct val="115000"/>
              </a:lnSpc>
              <a:buNone/>
              <a:def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记录上传者、相册和时间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3DCD57-2839-4265-B469-7AE8A38FF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000" b="24000"/>
          <a:stretch/>
        </p:blipFill>
        <p:spPr>
          <a:xfrm>
            <a:off x="5143500" y="1571625"/>
            <a:ext cx="6477000" cy="42291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6C59B3A-505A-4B29-A5EE-2F66297FDB78}"/>
              </a:ext>
            </a:extLst>
          </p:cNvPr>
          <p:cNvSpPr>
            <a:spLocks noGrp="1"/>
          </p:cNvSpPr>
          <p:nvPr/>
        </p:nvSpPr>
        <p:spPr>
          <a:xfrm>
            <a:off x="5143500" y="5953125"/>
            <a:ext cx="6477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图 2-10 校验与保存节选，失败不新增照片</a:t>
            </a:r>
          </a:p>
        </p:txBody>
      </p:sp>
    </p:spTree>
    <p:extLst>
      <p:ext uri="{BB962C8B-B14F-4D97-AF65-F5344CB8AC3E}">
        <p14:creationId xmlns:p14="http://schemas.microsoft.com/office/powerpoint/2010/main" val="1594188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C9B0E23-E104-4B61-BF33-C80ABC59633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上传控制器协调文件与元数据的保存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15A207-D948-41E4-94C1-A323F6278EB9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847395-1184-41D1-8935-3355F14F4861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47578C-4AA8-4C82-8B80-11C3AA150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79656" y="1428750"/>
            <a:ext cx="7432687" cy="4191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B0D621B-716D-4FE6-90F6-9BF49FD9B390}"/>
              </a:ext>
            </a:extLst>
          </p:cNvPr>
          <p:cNvSpPr>
            <a:spLocks noGrp="1"/>
          </p:cNvSpPr>
          <p:nvPr/>
        </p:nvSpPr>
        <p:spPr>
          <a:xfrm>
            <a:off x="571500" y="5819775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rPr>
              <a:t>校验失败时不执行成功路径的 3—6，错误提示另行返回</a:t>
            </a:r>
          </a:p>
        </p:txBody>
      </p:sp>
    </p:spTree>
    <p:extLst>
      <p:ext uri="{BB962C8B-B14F-4D97-AF65-F5344CB8AC3E}">
        <p14:creationId xmlns:p14="http://schemas.microsoft.com/office/powerpoint/2010/main" val="199907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C43D7F3-8BF2-4246-9DA1-6309A89D292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评论合法后保存，删除前先确认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EADD31-7E92-48D4-946A-BD28056E5346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38C1B2-7592-48DE-BECB-97E4B666D939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A256FA-4D86-41D2-9A18-3F2D97D24DCD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4381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登录且照片可见，才能发表评论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43255-1CD4-473E-B168-4D48C26ED7DA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4381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内容非空且不超过 200 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80E804-590B-416A-BE09-7045739BB080}"/>
              </a:ext>
            </a:extLst>
          </p:cNvPr>
          <p:cNvSpPr>
            <a:spLocks noGrp="1"/>
          </p:cNvSpPr>
          <p:nvPr/>
        </p:nvSpPr>
        <p:spPr>
          <a:xfrm>
            <a:off x="571500" y="3686175"/>
            <a:ext cx="4381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按时间倒序显示，删除仅限作者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675FAB-B0D2-49BD-9DFB-7805D38F1E61}"/>
              </a:ext>
            </a:extLst>
          </p:cNvPr>
          <p:cNvSpPr>
            <a:spLocks noGrp="1"/>
          </p:cNvSpPr>
          <p:nvPr/>
        </p:nvSpPr>
        <p:spPr>
          <a:xfrm>
            <a:off x="571500" y="4657725"/>
            <a:ext cx="4381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取消确认后保留原评论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EE6FBA6-16F1-463D-8710-61800DFD51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000"/>
          <a:stretch/>
        </p:blipFill>
        <p:spPr>
          <a:xfrm>
            <a:off x="5286375" y="1581150"/>
            <a:ext cx="6286500" cy="42386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24F53A7-D044-4B0A-AFBA-54B0BCFB23C8}"/>
              </a:ext>
            </a:extLst>
          </p:cNvPr>
          <p:cNvSpPr>
            <a:spLocks noGrp="1"/>
          </p:cNvSpPr>
          <p:nvPr/>
        </p:nvSpPr>
        <p:spPr>
          <a:xfrm>
            <a:off x="5286375" y="5953125"/>
            <a:ext cx="6286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图 2-14 评论删除扩展节选，完整图见 B14</a:t>
            </a:r>
          </a:p>
        </p:txBody>
      </p:sp>
    </p:spTree>
    <p:extLst>
      <p:ext uri="{BB962C8B-B14F-4D97-AF65-F5344CB8AC3E}">
        <p14:creationId xmlns:p14="http://schemas.microsoft.com/office/powerpoint/2010/main" val="1205903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354BC58-6D15-41FE-A341-3CAD30E75715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评论删除依次经过确认与作者校验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A1FEFF-3673-495A-9E76-5AD6F17FC27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BB2278-B180-4C56-9F3F-899D37E77052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2BCC39-3269-4287-81CA-5DCE50FF5A26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9*  确认后才提交删除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C71D16-90F7-4878-BE6B-2735326D4A8F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10*—11*  校验当前用户是否为作者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B38669-C97A-4A3D-A200-9987D4DEB7FE}"/>
              </a:ext>
            </a:extLst>
          </p:cNvPr>
          <p:cNvSpPr>
            <a:spLocks noGrp="1"/>
          </p:cNvSpPr>
          <p:nvPr/>
        </p:nvSpPr>
        <p:spPr>
          <a:xfrm>
            <a:off x="571500" y="33909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12*—13*  校验通过才删除并返回结果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0A1AA3-4E17-44D4-B892-AD6D007AB5D5}"/>
              </a:ext>
            </a:extLst>
          </p:cNvPr>
          <p:cNvSpPr>
            <a:spLocks noGrp="1"/>
          </p:cNvSpPr>
          <p:nvPr/>
        </p:nvSpPr>
        <p:spPr>
          <a:xfrm>
            <a:off x="571500" y="42100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14*  返回处理结果并刷新列表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9D59D2-AE7E-40A6-99CE-F4B3B7857892}"/>
              </a:ext>
            </a:extLst>
          </p:cNvPr>
          <p:cNvSpPr>
            <a:spLocks noGrp="1"/>
          </p:cNvSpPr>
          <p:nvPr/>
        </p:nvSpPr>
        <p:spPr>
          <a:xfrm>
            <a:off x="571500" y="5400675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rPr>
              <a:t>取消确认：10*—14* 不发生。作者不符：12*—13* 不发生</a:t>
            </a:r>
          </a:p>
        </p:txBody>
      </p:sp>
    </p:spTree>
    <p:extLst>
      <p:ext uri="{BB962C8B-B14F-4D97-AF65-F5344CB8AC3E}">
        <p14:creationId xmlns:p14="http://schemas.microsoft.com/office/powerpoint/2010/main" val="591617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6FD2A64-B31C-493D-88DE-DDE609B2AE78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类别维护与浏览访问各有明确边界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181344-DA3F-40E2-9FA1-2128F15CC467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F89E33-9648-4C9F-978F-C5DCAC12DE5A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BB9CBE-F780-41C1-BE04-9767FE7205EB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5048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相册类别管理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E3480B-9EC0-41A0-AECA-F32CB6B67908}"/>
              </a:ext>
            </a:extLst>
          </p:cNvPr>
          <p:cNvSpPr>
            <a:spLocks noGrp="1"/>
          </p:cNvSpPr>
          <p:nvPr/>
        </p:nvSpPr>
        <p:spPr>
          <a:xfrm>
            <a:off x="571500" y="2543175"/>
            <a:ext cx="5048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管理员维护统一类别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EE9E2A-5DFB-4AB6-AAC4-1CDC6E8A9451}"/>
              </a:ext>
            </a:extLst>
          </p:cNvPr>
          <p:cNvSpPr>
            <a:spLocks noGrp="1"/>
          </p:cNvSpPr>
          <p:nvPr/>
        </p:nvSpPr>
        <p:spPr>
          <a:xfrm>
            <a:off x="571500" y="3514725"/>
            <a:ext cx="5048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添加或修改时名称非空、不重名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45DE0C-B0CC-4D7C-8F9B-96F35AD7F2F6}"/>
              </a:ext>
            </a:extLst>
          </p:cNvPr>
          <p:cNvSpPr>
            <a:spLocks noGrp="1"/>
          </p:cNvSpPr>
          <p:nvPr/>
        </p:nvSpPr>
        <p:spPr>
          <a:xfrm>
            <a:off x="571500" y="4486275"/>
            <a:ext cx="5048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删除前检查占用，有相册就不删除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252273-21FC-4A22-B82E-5A025E43BC94}"/>
              </a:ext>
            </a:extLst>
          </p:cNvPr>
          <p:cNvSpPr>
            <a:spLocks noGrp="1"/>
          </p:cNvSpPr>
          <p:nvPr/>
        </p:nvSpPr>
        <p:spPr>
          <a:xfrm>
            <a:off x="6524625" y="1714500"/>
            <a:ext cx="5048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浏览照片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5E7D13-EB2A-4129-A66A-C952E07C8441}"/>
              </a:ext>
            </a:extLst>
          </p:cNvPr>
          <p:cNvSpPr>
            <a:spLocks noGrp="1"/>
          </p:cNvSpPr>
          <p:nvPr/>
        </p:nvSpPr>
        <p:spPr>
          <a:xfrm>
            <a:off x="6524625" y="2543175"/>
            <a:ext cx="5048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公开相册和本人全部相册可见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1FD9B8-CA6D-4FCD-A7D3-805B7F9D8E35}"/>
              </a:ext>
            </a:extLst>
          </p:cNvPr>
          <p:cNvSpPr>
            <a:spLocks noGrp="1"/>
          </p:cNvSpPr>
          <p:nvPr/>
        </p:nvSpPr>
        <p:spPr>
          <a:xfrm>
            <a:off x="6524625" y="3514725"/>
            <a:ext cx="5048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无可见相册时显示空状态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5CE359-F303-4435-82B5-CC5C63962A3E}"/>
              </a:ext>
            </a:extLst>
          </p:cNvPr>
          <p:cNvSpPr>
            <a:spLocks noGrp="1"/>
          </p:cNvSpPr>
          <p:nvPr/>
        </p:nvSpPr>
        <p:spPr>
          <a:xfrm>
            <a:off x="6524625" y="4486275"/>
            <a:ext cx="5048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链接直达也必须校验访问权限</a:t>
            </a:r>
          </a:p>
        </p:txBody>
      </p:sp>
    </p:spTree>
    <p:extLst>
      <p:ext uri="{BB962C8B-B14F-4D97-AF65-F5344CB8AC3E}">
        <p14:creationId xmlns:p14="http://schemas.microsoft.com/office/powerpoint/2010/main" val="1606108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8969E44-2FAE-4BDA-8D0C-BBBB0410FB65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非功能需求采用可复现的验收目标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67679B-F0AD-4986-B50E-0EE97679D1B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D40D29-5EC1-4A74-A48A-3CC39DC1FB00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06AF542-DAC3-4A04-9676-D4141155BE9B}"/>
              </a:ext>
            </a:extLst>
          </p:cNvPr>
          <p:cNvGraphicFramePr/>
          <p:nvPr/>
        </p:nvGraphicFramePr>
        <p:xfrm>
          <a:off x="571500" y="1581150"/>
          <a:ext cx="11049000" cy="3714750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建议目标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个已登录会话，持续 5 分钟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固定种子数据与请求比例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常规接口 P95 ≤ 2 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记录延迟分布及错误类型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单张 ≤ 10MB，P95 ≤ 5 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 2 路上传，本机回环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安全与恢复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后端权限校验，失败无半完成数据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跨账户访问与故障注入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4732851-5F66-4C2C-9D16-F75210C8059D}"/>
              </a:ext>
            </a:extLst>
          </p:cNvPr>
          <p:cNvSpPr>
            <a:spLocks noGrp="1"/>
          </p:cNvSpPr>
          <p:nvPr/>
        </p:nvSpPr>
        <p:spPr>
          <a:xfrm>
            <a:off x="571500" y="562927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rPr>
              <a:t>上述为待验证目标。预期成功请求失败率 ≤ 1%，当前没有实测结果</a:t>
            </a:r>
          </a:p>
        </p:txBody>
      </p:sp>
    </p:spTree>
    <p:extLst>
      <p:ext uri="{BB962C8B-B14F-4D97-AF65-F5344CB8AC3E}">
        <p14:creationId xmlns:p14="http://schemas.microsoft.com/office/powerpoint/2010/main" val="1383991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02F9103-F454-4BE8-9AFB-56C8D43C4C35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六人分工保留实际交付与代做记录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F2AE13-703D-431C-BECC-DDAC303DCF1A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6FED3D-B6C0-46A9-AB9E-E58EDB0184EE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19286A1-C0DF-40F9-A094-79BD20032CCF}"/>
              </a:ext>
            </a:extLst>
          </p:cNvPr>
          <p:cNvGraphicFramePr/>
          <p:nvPr/>
        </p:nvGraphicFramePr>
        <p:xfrm>
          <a:off x="571500" y="1428750"/>
          <a:ext cx="11049000" cy="40100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286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模块职责与本轮材料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刘硕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组长统筹，图稿返修，报告与 PPT 整合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钟标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账户管理前期分工，本轮答辩材料由组长接手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顾圣杰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相册模块需求与答辩，历史图稿由刘硕代做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王柯涵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照片模块图文及上传、浏览答辩内容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陈诺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类别与评论整合、校对及统一提交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286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翟宇豪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F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评论初稿与问答，个人贡献待本人确认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AE8C0B8-6651-498E-9DF5-E10316EFFCEC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4532A"/>
                </a:solidFill>
                <a:latin typeface="Microsoft YaHei"/>
                <a:ea typeface="Microsoft YaHei"/>
                <a:cs typeface="Microsoft YaHei"/>
              </a:rPr>
              <a:t>贡献比例待组长按实际工作核定，六人合计应为 100%</a:t>
            </a:r>
          </a:p>
        </p:txBody>
      </p:sp>
    </p:spTree>
    <p:extLst>
      <p:ext uri="{BB962C8B-B14F-4D97-AF65-F5344CB8AC3E}">
        <p14:creationId xmlns:p14="http://schemas.microsoft.com/office/powerpoint/2010/main" val="1855177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7439006-B999-44B0-A11D-94367564155C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需求与模型为下一阶段设计提供依据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C51151-1B34-4170-9C31-5B3CDAD45F53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电子相册系统  需求分析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B8C0BB-8B9F-4B49-AA0D-6339EAA8A247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F80FF2-B31B-4E13-9BB6-76498CD1DF32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4095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已形成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6CE872-6BF7-4423-A979-AA693BFEBDD8}"/>
              </a:ext>
            </a:extLst>
          </p:cNvPr>
          <p:cNvSpPr>
            <a:spLocks noGrp="1"/>
          </p:cNvSpPr>
          <p:nvPr/>
        </p:nvSpPr>
        <p:spPr>
          <a:xfrm>
            <a:off x="571500" y="2590800"/>
            <a:ext cx="509587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八个用例的功能与分析模型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3C248F-8E0C-406B-82AB-F2D834D11128}"/>
              </a:ext>
            </a:extLst>
          </p:cNvPr>
          <p:cNvSpPr>
            <a:spLocks noGrp="1"/>
          </p:cNvSpPr>
          <p:nvPr/>
        </p:nvSpPr>
        <p:spPr>
          <a:xfrm>
            <a:off x="571500" y="3571875"/>
            <a:ext cx="509587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统一的权限、异常与存储规则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9E6A59-D7E8-4F90-B1B2-AC112DF038F0}"/>
              </a:ext>
            </a:extLst>
          </p:cNvPr>
          <p:cNvSpPr>
            <a:spLocks noGrp="1"/>
          </p:cNvSpPr>
          <p:nvPr/>
        </p:nvSpPr>
        <p:spPr>
          <a:xfrm>
            <a:off x="571500" y="4552950"/>
            <a:ext cx="509587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可验证的非功能需求与答辩材料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796F4D-5BA5-47C2-BE89-5FAC4DA95747}"/>
              </a:ext>
            </a:extLst>
          </p:cNvPr>
          <p:cNvSpPr>
            <a:spLocks noGrp="1"/>
          </p:cNvSpPr>
          <p:nvPr/>
        </p:nvSpPr>
        <p:spPr>
          <a:xfrm>
            <a:off x="6858000" y="1752600"/>
            <a:ext cx="4619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1EC35A-1F29-4A4B-BF02-C74CF87CD5F2}"/>
              </a:ext>
            </a:extLst>
          </p:cNvPr>
          <p:cNvSpPr>
            <a:spLocks noGrp="1"/>
          </p:cNvSpPr>
          <p:nvPr/>
        </p:nvSpPr>
        <p:spPr>
          <a:xfrm>
            <a:off x="6858000" y="2590800"/>
            <a:ext cx="46196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确定接口、数据约束与认证方案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81B9E2-83FA-43C0-8C61-9C8401DD0338}"/>
              </a:ext>
            </a:extLst>
          </p:cNvPr>
          <p:cNvSpPr>
            <a:spLocks noGrp="1"/>
          </p:cNvSpPr>
          <p:nvPr/>
        </p:nvSpPr>
        <p:spPr>
          <a:xfrm>
            <a:off x="6858000" y="3571875"/>
            <a:ext cx="46196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实现后执行权限及性能验证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4B604C-194C-43D6-8E21-01DCC023DAED}"/>
              </a:ext>
            </a:extLst>
          </p:cNvPr>
          <p:cNvSpPr>
            <a:spLocks noGrp="1"/>
          </p:cNvSpPr>
          <p:nvPr/>
        </p:nvSpPr>
        <p:spPr>
          <a:xfrm>
            <a:off x="6858000" y="4552950"/>
            <a:ext cx="46196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F2A35"/>
                </a:solidFill>
                <a:latin typeface="Microsoft YaHei"/>
                <a:ea typeface="Microsoft YaHei"/>
                <a:cs typeface="Microsoft YaHei"/>
              </a:rPr>
              <a:t>补齐贡献确认，完成真实计时试讲</a:t>
            </a:r>
          </a:p>
        </p:txBody>
      </p:sp>
    </p:spTree>
    <p:extLst>
      <p:ext uri="{BB962C8B-B14F-4D97-AF65-F5344CB8AC3E}">
        <p14:creationId xmlns:p14="http://schemas.microsoft.com/office/powerpoint/2010/main" val="1755936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CDB0C93-8B48-452D-BF02-22C7A5A0910B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系统体系结构图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106BE3-6D8C-4293-9CF4-7A1D1AB373E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653F98-F4F9-43D2-96CB-D0C8DF33063C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4DB695-FEA2-447B-8F62-7EBEFEC2E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03543" y="1152525"/>
            <a:ext cx="3384915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D597E95-129B-465E-8BC0-33FA89A65C21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</a:t>
            </a:r>
          </a:p>
        </p:txBody>
      </p:sp>
    </p:spTree>
    <p:extLst>
      <p:ext uri="{BB962C8B-B14F-4D97-AF65-F5344CB8AC3E}">
        <p14:creationId xmlns:p14="http://schemas.microsoft.com/office/powerpoint/2010/main" val="818482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2E0E7B4-EE2B-44CA-9AF8-B5156F39A2F8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功能框架图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45322B-DB55-4E8D-8F43-9883FA2EFD5C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E42285-639A-45CF-B035-305423DA4D66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466C39-5CD8-4030-AE1F-F656D7147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93140" y="1152525"/>
            <a:ext cx="3605720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202075-6755-4A38-8413-DD7BC51C3AF6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</a:t>
            </a:r>
          </a:p>
        </p:txBody>
      </p:sp>
    </p:spTree>
    <p:extLst>
      <p:ext uri="{BB962C8B-B14F-4D97-AF65-F5344CB8AC3E}">
        <p14:creationId xmlns:p14="http://schemas.microsoft.com/office/powerpoint/2010/main" val="1634611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E3591C1-A6C4-4EA2-B914-FAE874ED884C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账户管理模块用例图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8D32A6-6AE5-4EFA-9429-F1FFEF32A787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0A6342-122E-4497-88D8-51E329D04EB9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FF66E2-A765-4CC0-8E91-A49C5A6CC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46402" y="1152525"/>
            <a:ext cx="6699196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5F6563A-C19E-4D65-95F4-A212C1A442D2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2-3</a:t>
            </a:r>
          </a:p>
        </p:txBody>
      </p:sp>
    </p:spTree>
    <p:extLst>
      <p:ext uri="{BB962C8B-B14F-4D97-AF65-F5344CB8AC3E}">
        <p14:creationId xmlns:p14="http://schemas.microsoft.com/office/powerpoint/2010/main" val="1847909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38888CD-28BE-4FA1-9635-F29B2F2D6A4D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用户注册活动图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85CE8C-1766-4DAF-B1EC-DF1F6E156B63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19BAE8-ABFD-4DC2-B0B9-6A5C576E7D1E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A173E0-6E46-40F9-8A3F-D383F727C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66501" y="1152525"/>
            <a:ext cx="4258998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FB26EC7-43C8-4194-B4B3-5FE5B648A913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2-4</a:t>
            </a:r>
          </a:p>
        </p:txBody>
      </p:sp>
    </p:spTree>
    <p:extLst>
      <p:ext uri="{BB962C8B-B14F-4D97-AF65-F5344CB8AC3E}">
        <p14:creationId xmlns:p14="http://schemas.microsoft.com/office/powerpoint/2010/main" val="2106334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966C1B0-F61B-4827-8B47-F5EEE8B6BBD8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用户登录活动图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04644A-BE21-4F09-9B16-D1447CF0E785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A3849F-54FB-42E8-A689-64BEAFA67C99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7DA52D-8309-46E2-937C-C9FA7BBC1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25350" y="1152525"/>
            <a:ext cx="4541301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EEBFA45-B60E-43A6-9765-319C18070F37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2-5</a:t>
            </a:r>
          </a:p>
        </p:txBody>
      </p:sp>
    </p:spTree>
    <p:extLst>
      <p:ext uri="{BB962C8B-B14F-4D97-AF65-F5344CB8AC3E}">
        <p14:creationId xmlns:p14="http://schemas.microsoft.com/office/powerpoint/2010/main" val="708780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D6B4237-6E6B-4566-9C71-CE1B768E5CE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相册管理模块用例图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E66DD4-F4B5-4865-8D84-8D181C8631A8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96E79E-0210-4DB3-A2DE-1F34A127DF3F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C0E7F1-73AF-4957-8587-36E4B949D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77903" y="1152525"/>
            <a:ext cx="6836194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4B1B451-342B-4EB5-A95A-D3284BDB3F55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2-6</a:t>
            </a:r>
          </a:p>
        </p:txBody>
      </p:sp>
    </p:spTree>
    <p:extLst>
      <p:ext uri="{BB962C8B-B14F-4D97-AF65-F5344CB8AC3E}">
        <p14:creationId xmlns:p14="http://schemas.microsoft.com/office/powerpoint/2010/main" val="1828469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F367F8D-7289-4354-A71D-CE40518EE655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创建相册活动图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6C26DD-051B-4070-B866-063553F56011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4AF428-EB17-48E4-8549-677832D88680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B07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D647A9-B793-4B4E-B107-EB696457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47460" y="1152525"/>
            <a:ext cx="4897079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F1389B2-D2CE-4668-A7E0-E9CA680A6276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2-7</a:t>
            </a:r>
          </a:p>
        </p:txBody>
      </p:sp>
    </p:spTree>
    <p:extLst>
      <p:ext uri="{BB962C8B-B14F-4D97-AF65-F5344CB8AC3E}">
        <p14:creationId xmlns:p14="http://schemas.microsoft.com/office/powerpoint/2010/main" val="1423557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A207CC5-A283-42C6-8161-22E6845BDB42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修改相册活动图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DC8E51-5FCC-424D-84DB-B819FED7059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E87CC-C9E7-42D0-A3BE-342A4F477C50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B08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21E68F-B06A-471D-8E32-80B2C8E97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53016" y="1152525"/>
            <a:ext cx="4085969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37CD51B-EC1E-415A-A92B-CCBF3B117DEC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2-8</a:t>
            </a:r>
          </a:p>
        </p:txBody>
      </p:sp>
    </p:spTree>
    <p:extLst>
      <p:ext uri="{BB962C8B-B14F-4D97-AF65-F5344CB8AC3E}">
        <p14:creationId xmlns:p14="http://schemas.microsoft.com/office/powerpoint/2010/main" val="1226856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6CBD32E-7D9E-4AEB-B6FD-CA87ACE65925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照片管理模块用例图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DA01A3-91B2-46B1-8CEB-1A724D68FF49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9D36B3-9B86-4C1B-94B7-60D88771D3B9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B09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582FBD-3001-434E-ABED-A0B950A64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77903" y="1152525"/>
            <a:ext cx="6836194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7D7D2C7-43A3-46AF-BD97-0684B680B6BE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2-9</a:t>
            </a:r>
          </a:p>
        </p:txBody>
      </p:sp>
    </p:spTree>
    <p:extLst>
      <p:ext uri="{BB962C8B-B14F-4D97-AF65-F5344CB8AC3E}">
        <p14:creationId xmlns:p14="http://schemas.microsoft.com/office/powerpoint/2010/main" val="1717007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ED24508-B19D-4ED3-93BE-74D4323DE1E0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上传图片活动图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2B8C4C-912D-485A-B52E-A649FD295631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937675-924B-4318-BCB7-5BBD276FD601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869D15-ECA9-46C6-BAAE-711AF4880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63556" y="1152525"/>
            <a:ext cx="4864888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1ED2A72-C528-4ECE-A13A-54ECD3CE63AE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2-10</a:t>
            </a:r>
          </a:p>
        </p:txBody>
      </p:sp>
    </p:spTree>
    <p:extLst>
      <p:ext uri="{BB962C8B-B14F-4D97-AF65-F5344CB8AC3E}">
        <p14:creationId xmlns:p14="http://schemas.microsoft.com/office/powerpoint/2010/main" val="1948811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270BC-D75E-4CF8-9835-8CD9F35EBF41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浏览照片活动图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0AD839-08E9-4F75-BC52-702A101A47B4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86E16-F980-4CF8-B416-9708634128A9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233340-CD4F-4FB3-9502-19B62F76F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08314" y="1152525"/>
            <a:ext cx="3375373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C15683F-8960-4D9E-B90E-914390C1791D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2-11</a:t>
            </a:r>
          </a:p>
        </p:txBody>
      </p:sp>
    </p:spTree>
    <p:extLst>
      <p:ext uri="{BB962C8B-B14F-4D97-AF65-F5344CB8AC3E}">
        <p14:creationId xmlns:p14="http://schemas.microsoft.com/office/powerpoint/2010/main" val="90933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78F2524-B5B2-478B-8168-FEBB87065B54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类别与评论模块用例图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0D8D3F-2B16-476E-B787-C8CEA7BC5723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45999-D13F-4CBA-86AF-8321DC4F63DA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BFD98A-FDB3-4D6B-A885-7C122A084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77903" y="1152525"/>
            <a:ext cx="6836194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F9F87CC-DF54-46E1-A5BD-7F1CE1D71529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2-12</a:t>
            </a:r>
          </a:p>
        </p:txBody>
      </p:sp>
    </p:spTree>
    <p:extLst>
      <p:ext uri="{BB962C8B-B14F-4D97-AF65-F5344CB8AC3E}">
        <p14:creationId xmlns:p14="http://schemas.microsoft.com/office/powerpoint/2010/main" val="1400423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82EAED2-D9AA-469C-B1DF-64DBDF77A55F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相册类别管理活动图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F583D1-B3EA-479C-967A-F24053B28E1E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468CEF-EC89-4883-850A-56E13A56FDDC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5F3812-8882-4DBD-A055-E4D09D7C5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51717" y="1152525"/>
            <a:ext cx="3088565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BB2FE22-9E30-4D23-886E-5BC25E87D94F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2-13</a:t>
            </a:r>
          </a:p>
        </p:txBody>
      </p:sp>
    </p:spTree>
    <p:extLst>
      <p:ext uri="{BB962C8B-B14F-4D97-AF65-F5344CB8AC3E}">
        <p14:creationId xmlns:p14="http://schemas.microsoft.com/office/powerpoint/2010/main" val="661799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828EDC1-660A-4CC4-81A4-0AE0483505A8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对照片评论活动图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C6C0E5-0E8F-4E01-B357-758E6A77EB11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7101A4-5467-4B5E-9324-3490F5FF46AB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8B8B5D-40ED-40AA-8DEF-ED8D19CC7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48442" y="1152525"/>
            <a:ext cx="3695116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CB7ED7-2585-48BC-9E35-B280FA250A13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2-14</a:t>
            </a:r>
          </a:p>
        </p:txBody>
      </p:sp>
    </p:spTree>
    <p:extLst>
      <p:ext uri="{BB962C8B-B14F-4D97-AF65-F5344CB8AC3E}">
        <p14:creationId xmlns:p14="http://schemas.microsoft.com/office/powerpoint/2010/main" val="760793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CF841D9-5F01-4319-9D44-24B1AC5179A5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用户注册类模型图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3C9938-C116-4F3D-8FB8-D4A7DD6B7D53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174284-30C9-4010-8582-DF3FC0FE5CDE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8CC7BE-75CE-4C31-B589-5C7518784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49352" y="1152525"/>
            <a:ext cx="5693296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1EDB076-0341-4F9C-B22C-B974392BA4C9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2-15</a:t>
            </a:r>
          </a:p>
        </p:txBody>
      </p:sp>
    </p:spTree>
    <p:extLst>
      <p:ext uri="{BB962C8B-B14F-4D97-AF65-F5344CB8AC3E}">
        <p14:creationId xmlns:p14="http://schemas.microsoft.com/office/powerpoint/2010/main" val="240923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CE0AEC4-9C26-44C4-8A9E-26D9083A69A8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用户注册协作图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FF4FB0-C50E-45CE-A6DF-3C641C81EFC2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BE1A18-AB46-4BCC-9611-D2B4DA684A19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88E2BA-92A6-4F22-BE6F-164372F10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255358"/>
            <a:ext cx="11049000" cy="462350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C76EF52-ADE0-4982-85D7-60D7C20FC7DB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2-16</a:t>
            </a:r>
          </a:p>
        </p:txBody>
      </p:sp>
    </p:spTree>
    <p:extLst>
      <p:ext uri="{BB962C8B-B14F-4D97-AF65-F5344CB8AC3E}">
        <p14:creationId xmlns:p14="http://schemas.microsoft.com/office/powerpoint/2010/main" val="612044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C771B54-9FD4-4F6B-AA56-8B53A4E64988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用户登录类模型图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4EACC7-24BF-4B22-9607-C8237FF48666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27BEF5-829F-4921-8CB9-7A5D0CC739F9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B17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EC644D-95F2-422E-8171-0F157BC70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69641" y="1152525"/>
            <a:ext cx="6252719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65CF28E-E289-441C-A62D-8E3ABE74030D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2-17</a:t>
            </a:r>
          </a:p>
        </p:txBody>
      </p:sp>
    </p:spTree>
    <p:extLst>
      <p:ext uri="{BB962C8B-B14F-4D97-AF65-F5344CB8AC3E}">
        <p14:creationId xmlns:p14="http://schemas.microsoft.com/office/powerpoint/2010/main" val="2114736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F9149CE-9414-4CC8-BD8A-D39C26E87D99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用户登录协作图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97CA2F-64E8-46B4-8B80-9C3934B498F8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534762-F8E5-4AC3-BC0D-3D9FFD05916E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B18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6FD9F7-CA8F-4D9D-AEF9-3E63FE4A7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512714"/>
            <a:ext cx="11049000" cy="410879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3DDCF0A-82CF-4BC0-BEC3-20C379D89B28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2-18</a:t>
            </a:r>
          </a:p>
        </p:txBody>
      </p:sp>
    </p:spTree>
    <p:extLst>
      <p:ext uri="{BB962C8B-B14F-4D97-AF65-F5344CB8AC3E}">
        <p14:creationId xmlns:p14="http://schemas.microsoft.com/office/powerpoint/2010/main" val="521028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182C9C9-F5E3-4ACC-9CA3-D35101F9706E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创建相册类模型图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1C9C69-4DA0-4D5C-99A4-9ECD22DFB30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63BBB2-14EC-432A-9BD5-3A5AE2EFC066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B19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1707AE-B47A-4CAB-BCE5-622E6C13E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22012" y="1152525"/>
            <a:ext cx="4347976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7E977B3-6E0B-4B45-BAFA-75A20276180E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2-19</a:t>
            </a:r>
          </a:p>
        </p:txBody>
      </p:sp>
    </p:spTree>
    <p:extLst>
      <p:ext uri="{BB962C8B-B14F-4D97-AF65-F5344CB8AC3E}">
        <p14:creationId xmlns:p14="http://schemas.microsoft.com/office/powerpoint/2010/main" val="588523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C188E02-B527-44C0-95BD-E444BF7E807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创建相册协作图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3E53F2-B365-4AAD-B7DB-C9F10F985134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5F07F1-9C82-457E-BC37-809EAAAB9BC7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FFBAE5-0B26-4B0C-AD52-415769842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16299" y="1152525"/>
            <a:ext cx="5559401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824AD11-7477-4CFB-B693-8D997531AD27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2-20</a:t>
            </a:r>
          </a:p>
        </p:txBody>
      </p:sp>
    </p:spTree>
    <p:extLst>
      <p:ext uri="{BB962C8B-B14F-4D97-AF65-F5344CB8AC3E}">
        <p14:creationId xmlns:p14="http://schemas.microsoft.com/office/powerpoint/2010/main" val="19750949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25A9AB8-B149-4B2F-8122-D19171936A16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修改相册类模型图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96E268-7644-485E-8EF1-35EB115C2CB0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F3E414-017B-4CC9-9D4D-209B8FE7FD3D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9CAF3C-1D92-439E-90F6-20FA3F942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22012" y="1152525"/>
            <a:ext cx="4347976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C13EB98-386D-42A5-BC8E-D9DEEE1D9B6C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2-21</a:t>
            </a:r>
          </a:p>
        </p:txBody>
      </p:sp>
    </p:spTree>
    <p:extLst>
      <p:ext uri="{BB962C8B-B14F-4D97-AF65-F5344CB8AC3E}">
        <p14:creationId xmlns:p14="http://schemas.microsoft.com/office/powerpoint/2010/main" val="1232524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2F87E68-8FDE-40D4-AB51-B1238E9CE82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修改相册协作图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F3EACA-12BD-4E3E-8802-8C9FB75DA56F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227F4D-AFC5-49C2-A399-27F98C9BC396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D26BBA-3A3F-4AAB-A957-0101F94C8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13501" y="1152525"/>
            <a:ext cx="7764998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664ECA4-AA75-48BC-804F-5AE6B7696AFF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2-22</a:t>
            </a:r>
          </a:p>
        </p:txBody>
      </p:sp>
    </p:spTree>
    <p:extLst>
      <p:ext uri="{BB962C8B-B14F-4D97-AF65-F5344CB8AC3E}">
        <p14:creationId xmlns:p14="http://schemas.microsoft.com/office/powerpoint/2010/main" val="1610264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4831E7E-0039-4D80-9147-394AE037105E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上传图片类模型图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3CC497-5963-4392-835D-F596D1BD0B9D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B03AF1-D028-4259-B1FC-EF423F3DFB0D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C2A2AD-2AE8-4E1F-A215-E80F3CC36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61184" y="1152525"/>
            <a:ext cx="5069632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CB5CB6D-D014-4733-A6C9-AFBD266E9ADE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2-23</a:t>
            </a:r>
          </a:p>
        </p:txBody>
      </p:sp>
    </p:spTree>
    <p:extLst>
      <p:ext uri="{BB962C8B-B14F-4D97-AF65-F5344CB8AC3E}">
        <p14:creationId xmlns:p14="http://schemas.microsoft.com/office/powerpoint/2010/main" val="530141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A1C0FA8-ED34-43EF-BE94-1BE7CE97F519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上传图片协作图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052D0F-BDF6-4D79-9C9D-F8173DCE2C2E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CC224A-D272-4DAA-B3C5-100DE6646298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BC0CF4-F0BE-4DF7-AB9A-8AA201A64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13759" y="1152525"/>
            <a:ext cx="8564483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DD6CD34-3778-4282-991A-9357DDB67EAB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2-24</a:t>
            </a:r>
          </a:p>
        </p:txBody>
      </p:sp>
    </p:spTree>
    <p:extLst>
      <p:ext uri="{BB962C8B-B14F-4D97-AF65-F5344CB8AC3E}">
        <p14:creationId xmlns:p14="http://schemas.microsoft.com/office/powerpoint/2010/main" val="402400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8BBC723-A5F9-467B-B425-1B88361FBF92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浏览照片类模型图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4F46D9-2761-4579-BBC6-72C71264A816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8A04A7-443A-4B7B-81AD-9AC21B962B9C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11A27C-918A-4AC6-88A2-328C636ED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22012" y="1152525"/>
            <a:ext cx="4347976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55D6266-0A58-4629-9B8C-861CC2B9D2F9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2-25</a:t>
            </a:r>
          </a:p>
        </p:txBody>
      </p:sp>
    </p:spTree>
    <p:extLst>
      <p:ext uri="{BB962C8B-B14F-4D97-AF65-F5344CB8AC3E}">
        <p14:creationId xmlns:p14="http://schemas.microsoft.com/office/powerpoint/2010/main" val="373526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5B51F1F-BF53-4218-A7DF-916707DEFCAD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浏览照片协作图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C3FAC9-AABE-4FE5-A499-78837F282B2C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C7B1E1-ABFF-4EF2-9197-26CEB9600D0C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B07699-8499-461F-9069-026471950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16299" y="1152525"/>
            <a:ext cx="5559401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E50AE0E-F42B-43A7-AE6F-B5F2FCC71867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2-26</a:t>
            </a:r>
          </a:p>
        </p:txBody>
      </p:sp>
    </p:spTree>
    <p:extLst>
      <p:ext uri="{BB962C8B-B14F-4D97-AF65-F5344CB8AC3E}">
        <p14:creationId xmlns:p14="http://schemas.microsoft.com/office/powerpoint/2010/main" val="4958080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0D3C245-8423-49AE-AF17-6121DECE7C8D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相册类别管理类模型图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ADE7B9-FFBA-475F-80D7-CABD4B077790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1CE8CE-D96F-497D-A57B-AD51DFFEF357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B27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09F6EB-F072-40C7-9A38-DDCCC095B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45113" y="1152525"/>
            <a:ext cx="4501773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69B5A6C-1AE9-4CB7-92A8-6DDD7FDC7201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2-27</a:t>
            </a:r>
          </a:p>
        </p:txBody>
      </p:sp>
    </p:spTree>
    <p:extLst>
      <p:ext uri="{BB962C8B-B14F-4D97-AF65-F5344CB8AC3E}">
        <p14:creationId xmlns:p14="http://schemas.microsoft.com/office/powerpoint/2010/main" val="2127129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42852A8-DD9D-4A36-B63E-C4B31AFBA8FB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相册类别管理协作图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B8B50A-FC48-4E9F-8413-57BD956E04A2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900396-305D-4FF0-AD06-5217D619F33F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B28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341ECA-BEC8-4C50-A96F-B5EF4D37A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16299" y="1152525"/>
            <a:ext cx="5559401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DEA5CF2-A001-419C-A554-098542FB19EE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2-28</a:t>
            </a:r>
          </a:p>
        </p:txBody>
      </p:sp>
    </p:spTree>
    <p:extLst>
      <p:ext uri="{BB962C8B-B14F-4D97-AF65-F5344CB8AC3E}">
        <p14:creationId xmlns:p14="http://schemas.microsoft.com/office/powerpoint/2010/main" val="231262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8DF12CF-FB25-4AB2-B190-536B8763E777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对照片评论类模型图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06E9AC-02A5-4116-B2E9-D01B55FD9385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E47998-4683-4075-ADDA-574EECA72CB9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B29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3A26FB-7F46-4887-942C-BBABBC8B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51168" y="1152525"/>
            <a:ext cx="3289664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FC34544-01E3-4FC4-95C5-7D891F7B0C1A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2-29</a:t>
            </a:r>
          </a:p>
        </p:txBody>
      </p:sp>
    </p:spTree>
    <p:extLst>
      <p:ext uri="{BB962C8B-B14F-4D97-AF65-F5344CB8AC3E}">
        <p14:creationId xmlns:p14="http://schemas.microsoft.com/office/powerpoint/2010/main" val="13382201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4E9434E-5BA8-46F2-BD9D-3DEFBCFA2B3C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5D8A"/>
                </a:solidFill>
                <a:latin typeface="Microsoft YaHei"/>
                <a:ea typeface="Microsoft YaHei"/>
                <a:cs typeface="Microsoft YaHei"/>
              </a:rPr>
              <a:t>对照片评论协作图  完整图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855687-5C81-4CA0-9071-2BCB0ECF252A}"/>
              </a:ext>
            </a:extLst>
          </p:cNvPr>
          <p:cNvSpPr>
            <a:spLocks noGrp="1"/>
          </p:cNvSpPr>
          <p:nvPr/>
        </p:nvSpPr>
        <p:spPr>
          <a:xfrm>
            <a:off x="533400" y="64484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备用图  提问时展开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B57CBF-78D9-484E-8528-5245FFF5AAA8}"/>
              </a:ext>
            </a:extLst>
          </p:cNvPr>
          <p:cNvSpPr>
            <a:spLocks noGrp="1"/>
          </p:cNvSpPr>
          <p:nvPr/>
        </p:nvSpPr>
        <p:spPr>
          <a:xfrm>
            <a:off x="10668000" y="6448425"/>
            <a:ext cx="990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B30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B5A3A4-F770-49DB-81CD-AC06787D9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87972" y="1152525"/>
            <a:ext cx="4016055" cy="4829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6E47FB6-A9FA-47F6-95EA-590E7D3550BC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66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lnSpc>
                <a:spcPct val="115000"/>
              </a:lnSpc>
              <a:buNone/>
              <a:def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C8C"/>
                </a:solidFill>
                <a:latin typeface="Microsoft YaHei"/>
                <a:ea typeface="Microsoft YaHei"/>
                <a:cs typeface="Microsoft YaHei"/>
              </a:rPr>
              <a:t>报告图 2-30</a:t>
            </a:r>
          </a:p>
        </p:txBody>
      </p:sp>
    </p:spTree>
    <p:extLst>
      <p:ext uri="{BB962C8B-B14F-4D97-AF65-F5344CB8AC3E}">
        <p14:creationId xmlns:p14="http://schemas.microsoft.com/office/powerpoint/2010/main" val="4358683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3021</Words>
  <Application>Microsoft Office PowerPoint</Application>
  <DocSecurity>0</DocSecurity>
  <PresentationFormat>宽屏</PresentationFormat>
  <Paragraphs>450</Paragraphs>
  <Slides>46</Slides>
  <Notes>46</Notes>
  <HiddenSlides>30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49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1824263093@qq.com</cp:lastModifiedBy>
  <cp:revision>2</cp:revision>
  <dcterms:created xsi:type="dcterms:W3CDTF">2026-10-28T01:47:49Z</dcterms:created>
  <dcterms:modified xsi:type="dcterms:W3CDTF">2026-10-28T01:51:58Z</dcterms:modified>
</cp:coreProperties>
</file>